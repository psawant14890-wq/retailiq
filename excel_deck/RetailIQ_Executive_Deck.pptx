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(R$)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2017-01</c:v>
                  </c:pt>
                  <c:pt idx="1">
                    <c:v>2017-04</c:v>
                  </c:pt>
                  <c:pt idx="2">
                    <c:v>2017-07</c:v>
                  </c:pt>
                  <c:pt idx="3">
                    <c:v>2017-10</c:v>
                  </c:pt>
                  <c:pt idx="4">
                    <c:v>2018-01</c:v>
                  </c:pt>
                  <c:pt idx="5">
                    <c:v>2018-04</c:v>
                  </c:pt>
                  <c:pt idx="6">
                    <c:v>2018-07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380000</c:v>
                </c:pt>
                <c:pt idx="2">
                  <c:v>670000</c:v>
                </c:pt>
                <c:pt idx="3">
                  <c:v>900000</c:v>
                </c:pt>
                <c:pt idx="4">
                  <c:v>1170000</c:v>
                </c:pt>
                <c:pt idx="5">
                  <c:v>1150000</c:v>
                </c:pt>
                <c:pt idx="6">
                  <c:v>1040000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15A7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63B"/>
        </a:solidFill>
        <a:ln>
          <a:noFill/>
        </a:ln>
        <a:effectLst/>
      </c:spPr>
    </c:plotArea>
    <c:plotVisOnly val="1"/>
    <c:dispBlanksAs val="span"/>
  </c:chart>
  <c:spPr>
    <a:solidFill>
      <a:srgbClr val="1B26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6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63B"/>
                </a:solidFill>
                <a:latin typeface="Arial"/>
              </a:rPr>
              <a:t>Avg Review Score by Delivery Performance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 Score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</c:v>
                  </c:pt>
                  <c:pt idx="1">
                    <c:v>Late 1-7 Days</c:v>
                  </c:pt>
                  <c:pt idx="2">
                    <c:v>Late 7+ Days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4.28</c:v>
                </c:pt>
                <c:pt idx="1">
                  <c:v>3.16</c:v>
                </c:pt>
                <c:pt idx="2">
                  <c:v>1.73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6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63B"/>
                </a:solidFill>
                <a:latin typeface="Arial"/>
              </a:rPr>
              <a:t>Late Delivery Rate by State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 %</c:v>
                </c:pt>
              </c:strCache>
            </c:strRef>
          </c:tx>
          <c:spPr>
            <a:solidFill>
              <a:srgbClr val="415A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</c:v>
                  </c:pt>
                  <c:pt idx="1">
                    <c:v>MA</c:v>
                  </c:pt>
                  <c:pt idx="2">
                    <c:v>PI</c:v>
                  </c:pt>
                  <c:pt idx="3">
                    <c:v>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23.9</c:v>
                </c:pt>
                <c:pt idx="1">
                  <c:v>19.7</c:v>
                </c:pt>
                <c:pt idx="2">
                  <c:v>16</c:v>
                </c:pt>
                <c:pt idx="3">
                  <c:v>15.3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revenue growth story - this marketplace scaled from near zero to over a million reais monthly within about a year. That growth is the backdrop; the real story is in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finding: late delivery doesn't just inconvenience customers, it correlates with a review score collapse from 4.28 to 1.73. Four specific states drive most of this risk - that's the lever we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sensitivity range - even the conservative scenario, with no rosy assumptions, protects over R$30,000. That's the floor, not the ceiling. Point to the live dashboard if asked to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RetailIQ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Revenue at Risk from Delivery Delays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Marketplace · ~100K Orders, 2017-2018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R$15.84M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Analyzed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2017-2018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383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85216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Sellers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229600" y="1371600"/>
          <a:ext cx="3383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Olist public e-commerce dataset · Analysis by Pranay Sawant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8521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Delays Are Costing Real Revenue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508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R$607,588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tied to orders delivered 7+ days late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4.28 → 1.73 / 5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score: on-time vs. 7+ days late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206240" y="1371600"/>
          <a:ext cx="3566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8092440" y="1371600"/>
          <a:ext cx="3566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4 states (Alagoas, Maranhão, Piauí, Ceará) have late-delivery rates 2-3x the national average (8.1%) and disproportionately drive the revenue tied to severe customer dissatisfaction.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RetailIQ SQL analysis (sql/02_analysis.sql, Q4-Q5) · Olist e-commerce dataset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85216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Target the 4 Worst States First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logistics intervention in AL, MA, PI, and CE rather than a blanket overhaul. Even the conservative scenario protects meaningful revenue — the recommendation holds under a pessimistic assumption, not just the best case.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Shifted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Protected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state -5 percentage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R$30,680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states reach national avg (8.1%)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R$59,394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states match best state (2.9%)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R$91,362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863840" y="2468880"/>
            <a:ext cx="411480" cy="41148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9" name="Text 5"/>
          <p:cNvSpPr/>
          <p:nvPr/>
        </p:nvSpPr>
        <p:spPr>
          <a:xfrm>
            <a:off x="78638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4124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expedited carrier in AL, MA, PI, 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863840" y="3246120"/>
            <a:ext cx="411480" cy="41148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2" name="Text 8"/>
          <p:cNvSpPr/>
          <p:nvPr/>
        </p:nvSpPr>
        <p:spPr>
          <a:xfrm>
            <a:off x="78638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4124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against a 5pp on-time-rate improvement target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4023360"/>
            <a:ext cx="411480" cy="41148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5" name="Text 11"/>
          <p:cNvSpPr/>
          <p:nvPr/>
        </p:nvSpPr>
        <p:spPr>
          <a:xfrm>
            <a:off x="78638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41248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On-Time Delivery Rate as the North Star metric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retailiq-wq4exudkd9nfhh8aio6yjy.streamlit.app  ·  Full analysis: github.com/psawant14890-wq/retailiq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RetailIQ - Executive Summary</dc:title>
  <dc:subject>PptxGenJS Presentation</dc:subject>
  <dc:creator>Pranay Sawant</dc:creator>
  <cp:lastModifiedBy>Pranay Sawant</cp:lastModifiedBy>
  <cp:revision>1</cp:revision>
  <dcterms:created xsi:type="dcterms:W3CDTF">2026-06-28T13:01:26Z</dcterms:created>
  <dcterms:modified xsi:type="dcterms:W3CDTF">2026-06-28T13:01:26Z</dcterms:modified>
</cp:coreProperties>
</file>